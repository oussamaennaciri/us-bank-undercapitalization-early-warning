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86381"/>
  </p:normalViewPr>
  <p:slideViewPr>
    <p:cSldViewPr snapToGrid="0" snapToObjects="1">
      <p:cViewPr varScale="1">
        <p:scale>
          <a:sx n="115" d="100"/>
          <a:sy n="115" d="100"/>
        </p:scale>
        <p:origin x="6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Capital ratio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1F386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Healthy bank</c:v>
                </c:pt>
                <c:pt idx="1">
                  <c:v>Undercapitalized bank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69-364E-A641-DEC03BB7AF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8C8C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F38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9525" cap="flat">
              <a:solidFill>
                <a:srgbClr val="C8C8C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595959"/>
                    </a:solidFill>
                    <a:latin typeface="Arial"/>
                  </a:rPr>
                  <a:t>Capital ratio (%)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C8C8C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4816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I'm Oussama. I'm building a model to predict U.S. bank undercapitalization. This week, I went through the data looking for early signs of undercapitalization.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context so my target is clear to everyone. </a:t>
            </a:r>
          </a:p>
          <a:p>
            <a:endParaRPr lang="en-US" dirty="0"/>
          </a:p>
          <a:p>
            <a:r>
              <a:rPr lang="en-US" dirty="0"/>
              <a:t>Every bank keeps a reserve of money, so there's always enough for people to withdraw. </a:t>
            </a:r>
          </a:p>
          <a:p>
            <a:endParaRPr lang="en-US" dirty="0"/>
          </a:p>
          <a:p>
            <a:r>
              <a:rPr lang="en-US" dirty="0"/>
              <a:t>By law, that reserve has to stay above 8 percent, or the bank falls to undercapitalized status, which puts it at risk of failing. </a:t>
            </a:r>
          </a:p>
          <a:p>
            <a:endParaRPr lang="en-US" dirty="0"/>
          </a:p>
          <a:p>
            <a:r>
              <a:rPr lang="en-US" dirty="0"/>
              <a:t>That risk is what I'm trying to predict.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my findings, </a:t>
            </a:r>
          </a:p>
          <a:p>
            <a:endParaRPr lang="en-US" dirty="0"/>
          </a:p>
          <a:p>
            <a:r>
              <a:rPr lang="en-US" dirty="0"/>
              <a:t>this chart shows six indicators trends for both healthy banks in yellow, and undercapitalized banks in blue. </a:t>
            </a:r>
          </a:p>
          <a:p>
            <a:endParaRPr lang="en-US" dirty="0"/>
          </a:p>
          <a:p>
            <a:r>
              <a:rPr lang="en-US" dirty="0"/>
              <a:t>Undercapitalized banks keep worsening across all six indicators for two years before they are finally flagged, while healthy banks stay relatively stable. </a:t>
            </a:r>
          </a:p>
          <a:p>
            <a:endParaRPr lang="en-US" dirty="0"/>
          </a:p>
          <a:p>
            <a:r>
              <a:rPr lang="en-US" dirty="0"/>
              <a:t>The difference shows that this effect is not due to the economy, it is bank specific. </a:t>
            </a:r>
          </a:p>
          <a:p>
            <a:endParaRPr lang="en-US" dirty="0"/>
          </a:p>
          <a:p>
            <a:r>
              <a:rPr lang="en-US" dirty="0"/>
              <a:t>It also shows warning signs start appearing on average up to 8 quarters early, which means we can predict the distress up to two years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MSDS 696 DATA SCIENCE PRACTICUM II   |   WEEK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U.S. Bank Undercapitalization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Signs Before Undercapitalization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Oussama Ennaciri   |   July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10545775" cy="0"/>
          </a:xfrm>
          <a:prstGeom prst="line">
            <a:avLst/>
          </a:prstGeom>
          <a:noFill/>
          <a:ln w="2222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UNDERCAPITALIZATION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1094415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1463040" y="1234440"/>
          <a:ext cx="923544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265680" y="3520440"/>
            <a:ext cx="8158480" cy="45720"/>
          </a:xfrm>
          <a:prstGeom prst="line">
            <a:avLst/>
          </a:prstGeom>
          <a:noFill/>
          <a:ln w="28575">
            <a:solidFill>
              <a:srgbClr val="F2C14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86384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C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MINIMUM 8%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FINDING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1094415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Users/oussamaennaciri/Documents/Education/Academique/Regis/MSDS696_S70_Data Science Practicum II/Practicum II/Week 3/assets/road_to_troub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1560" y="960120"/>
            <a:ext cx="10058400" cy="5577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</Words>
  <Application>Microsoft Macintosh PowerPoint</Application>
  <PresentationFormat>Widescreen</PresentationFormat>
  <Paragraphs>28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Ennaciri, Oussama</cp:lastModifiedBy>
  <cp:revision>2</cp:revision>
  <dcterms:created xsi:type="dcterms:W3CDTF">2026-07-21T21:58:51Z</dcterms:created>
  <dcterms:modified xsi:type="dcterms:W3CDTF">2026-07-21T22:36:25Z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de1d5b-8b4b-4e4e-a8a1-d2976158103f_Enabled">
    <vt:lpwstr>true</vt:lpwstr>
  </property>
  <property fmtid="{D5CDD505-2E9C-101B-9397-08002B2CF9AE}" pid="3" name="MSIP_Label_a6de1d5b-8b4b-4e4e-a8a1-d2976158103f_SetDate">
    <vt:lpwstr>2026-07-21T22:36:25Z</vt:lpwstr>
  </property>
  <property fmtid="{D5CDD505-2E9C-101B-9397-08002B2CF9AE}" pid="4" name="MSIP_Label_a6de1d5b-8b4b-4e4e-a8a1-d2976158103f_Method">
    <vt:lpwstr>Standard</vt:lpwstr>
  </property>
  <property fmtid="{D5CDD505-2E9C-101B-9397-08002B2CF9AE}" pid="5" name="MSIP_Label_a6de1d5b-8b4b-4e4e-a8a1-d2976158103f_Name">
    <vt:lpwstr>defa4170-0d19-0005-0004-bc88714345d2</vt:lpwstr>
  </property>
  <property fmtid="{D5CDD505-2E9C-101B-9397-08002B2CF9AE}" pid="6" name="MSIP_Label_a6de1d5b-8b4b-4e4e-a8a1-d2976158103f_SiteId">
    <vt:lpwstr>ecd4c5d9-c2fe-4522-afd1-f0d20755d9d7</vt:lpwstr>
  </property>
  <property fmtid="{D5CDD505-2E9C-101B-9397-08002B2CF9AE}" pid="7" name="MSIP_Label_a6de1d5b-8b4b-4e4e-a8a1-d2976158103f_ActionId">
    <vt:lpwstr>59238727-00e9-46a4-81c3-f82a51406231</vt:lpwstr>
  </property>
  <property fmtid="{D5CDD505-2E9C-101B-9397-08002B2CF9AE}" pid="8" name="MSIP_Label_a6de1d5b-8b4b-4e4e-a8a1-d2976158103f_ContentBits">
    <vt:lpwstr>0</vt:lpwstr>
  </property>
  <property fmtid="{D5CDD505-2E9C-101B-9397-08002B2CF9AE}" pid="9" name="MSIP_Label_a6de1d5b-8b4b-4e4e-a8a1-d2976158103f_Tag">
    <vt:lpwstr>50, 3, 0, 1</vt:lpwstr>
  </property>
</Properties>
</file>